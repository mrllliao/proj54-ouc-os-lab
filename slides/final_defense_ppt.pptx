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1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BF5E0-78E1-4E4D-BDD0-4F95DAA118F3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156092-2602-402C-B385-CF82125146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933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开场要把主线说清楚：这不是一组零散系统调用展示，而是一套面向课程的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xv6-riscv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实验包。我们的重点是让学生能按阶段学习，让助教能按统一口径验收，让评委能从 干净基线复现。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7030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这一页必须纠正旧版本的非官方权重表述。我们现在按官方口径讲：初赛看执行展示和文档，决赛还看现场答辩、过程记录、源码分析、最终方案、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PPT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和演示视频。因此项目建设不能只做内核功能。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5260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这里讲真实痛点，不讲空话。队友复现里曾出现等待过久、误按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Ctrl+Z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、不知道哪一步成功的问题，所以我们把“复现体验”作为工程目标来做。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824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这个仓库不是只给开发者看的。学生、老师、助教和评委都有不同入口，所以我们把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README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docs/final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labs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scripts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submissions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分开组织。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78955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这一页讲工程可信度。第三方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源码不进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Git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，补丁序列是仓库里的事实，验证脚本把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make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boot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、用户程序和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串起来，最后由 证据索引管理外部证据。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1260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矩阵要让评委一眼看到课程设计，而不是看到一堆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syscall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名字。每个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都有机制、用户程序、测试和文档。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8885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Lab1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是入口，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Lab2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是第一个内核表观察。这里强调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pchildtest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输出受调度影响，这不是失败，而是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课程里应该讲清楚的现象。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65681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这一页是技术亮点。学生常把“申请地址空间”和“真实映射页面”混在一起。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pgcount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lazy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对比把这个差异变成可观察结果；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memstat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再引入结构化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copyout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7050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这里要把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file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的关系讲出来。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是进程视角，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file table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是内核全局结构；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open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dup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close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的趋势比绝对数更适合教学。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5929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Lab5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的定位要避免误解。它不是新系统调用，而是综合复现实验。学生最终要交的不只是“能跑”，还要说明如何验证、哪里失败过、边界是什么。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280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这一页讲工具链升级。我们不是把脚本堆在一起，而是把它组织成课程入口、复现入口、验收入口和提交前门禁。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9545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这里保持克制：我们只说已经有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和外部证据的事实，不编造队友真实姓名或系统版本。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root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z2996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是终端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user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。三方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full verification 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current commit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db85947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caf8ced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只是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evidence documentation commit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，用于记录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final demo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、三方复现、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和外部资产索引。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74465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这页解决“证据在哪里”和“如何证明没改过”。仓库不提交大文件，但记录了足够的元数据和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SHA256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；下载外部资产后可以用脚本重新核验。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17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不要贬低同类项目，也不要在答辩页上放旁支引用说明。这里强调差异：本项目更轻、更贴近本校课程，更强调干净基线、三方复现和证据边界。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6857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这页不能写成“赋能”“闭环”。直接指向仓库里的东西：补丁序列、课程材料、验证脚本、摘要解析和证据索引。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5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最后回到可信度。我们完成了课程实验包和证据链，但不把观察型实验包装成完整内核能力。答辩收束在“真实、可复现、可教学”。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156092-2602-402C-B385-CF82125146A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3448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D45E4E-69F7-864C-5552-9C354B87F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3D100A4-8BF3-B22E-C8EA-D69CA68A67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B4BD521-A760-1988-C6B4-A5E6B6688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FFAB83-0361-8E0A-5909-3A7D8A112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D07592-A57D-631D-5D42-4E453F8F3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312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AA2085-30F1-8C8C-98D8-1378F2BAF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240413-92E6-6B6F-974D-E06FBAB6A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97E261-25AA-B074-3A6F-F08DE3FED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A1C732-C36E-3130-67E5-FBD888D81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CFDFD1-9660-C112-9888-43EBA478F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1990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C29C5A-A2DC-9646-DD03-3F9ECA102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C71772-2D98-BDCD-2A24-3289507FA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B449F3-4A09-4A78-1000-7ACCCB499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6D3865-9381-425B-DA45-A0A4171C8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4AC521-7C86-2CC1-F41A-608180F7F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9072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C9517F-A9B6-A8A3-8D9F-25417399B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379A71-AFA5-218A-B0A3-5CC269E98A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47BF43-CE85-1578-740E-9A09FFFE1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FBE537-B737-1B02-280E-7C3EA9FFE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F26B7E-69E8-38A7-F348-40DD0D24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0C0C3E-773E-A60A-F121-80878912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883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E7D8AA-3D1C-7F59-EF54-D92401D2A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D9B632B-0283-3E9D-47A8-05A15992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BBBE7CC-47C0-2132-D0A5-16BB0CEFB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6E716BA-A253-0E00-2DC5-4B154B3308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1373DB-7E93-A48C-076A-6F7214BCC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E6B7AC7-F053-7429-644B-02A8AED4E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3F100B4-9412-C0E8-B417-958A14E92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A0C64A0-7E65-388F-7B05-FAE767ED7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617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EE394C-8E6A-A0CA-1501-C5B993BD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72A440-09A3-7FE0-5605-0D6F77320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105F6C-5352-F297-62DE-37E0F5FAB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9C8C70A-16C0-C6AA-9C6A-0F00F9D99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2853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4B5CB2-4BC5-B69A-7591-193E36E0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AC607AC-E253-B545-554D-506DB38A4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78CB11-FC4E-1CC2-D908-A74F1537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771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F864F2-AA0B-06E5-C1CE-D9025F358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A88DE06-68CA-73DD-94EB-1169E3ED9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61C5023-5C34-6AD9-79CB-DA95CB938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CDAAF3-8129-F6A5-0072-B72DF3487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012BCC4-C0D3-4780-BCA5-6CD766A2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0FF3E7F-0200-42CF-CD4C-FD9AA608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0242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FF8282-60F3-1FEE-D2FC-A1415CBAC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4FDECB7-7FDD-3CA5-A02E-3BD431DC7A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093F96-3A01-4117-4046-01AB6DC9E0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F5C6EE3-0E29-EB33-0B94-F5CA75D6B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0DE5F07-8921-C5F4-20D3-A47A35AE6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408B36-1BA4-B572-D710-1E0BCCC68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3298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4A6F04-76F9-EA40-6921-3A43E2895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C7073BB-A34B-45F6-6290-8B5EB7C9A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A933FA-5FD2-6BB2-CE1B-0ECC79D8A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EC07C-4F22-A2C5-6BE0-53E799736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1D98DB-192D-4DB5-57B4-DA94607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37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02CE0CF-82ED-5DEF-C202-C802D89CE3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5570094-CCF3-BAF3-20FC-FE0ECDF391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48E4AB-1375-24CB-6818-A3CAFA5D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564609-9271-C4EA-F7C2-20904C91B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A6C5D-5393-D096-CF41-4BD3AEA82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799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8C8C500-69E2-986A-AFD1-5DBF72CB8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825D9E-485C-57C0-7A91-2452E12B1E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F6672E-44FC-69BE-FC56-DFE1E87C76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357630-3157-4AFD-A157-330645C89275}" type="datetimeFigureOut">
              <a:rPr lang="zh-CN" altLang="en-US" smtClean="0"/>
              <a:t>2026/6/12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AAD3A6-3BD0-CF1D-19CB-C0E8A32CDD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0926E5-FE53-162A-36A7-3B8C5E4D87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705F75-E3BA-4423-87D1-0E68AC9F84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5053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3F87133-4564-AAC8-393F-31B09E4234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DCB6005-0B0F-E016-71F6-DFB41700FCC1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A8FD87-854E-ED3C-F408-BF2BA717E235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B37D57-8C13-9348-B2AE-FBF3E55F2CFD}"/>
              </a:ext>
            </a:extLst>
          </p:cNvPr>
          <p:cNvSpPr txBox="1"/>
          <p:nvPr/>
        </p:nvSpPr>
        <p:spPr>
          <a:xfrm>
            <a:off x="889000" y="1016000"/>
            <a:ext cx="8763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OUC xv6 Lab Kit</a:t>
            </a:r>
            <a:endParaRPr lang="zh-CN" altLang="en-US" sz="3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9D4CAE-B483-0615-C79F-D3F8C2747117}"/>
              </a:ext>
            </a:extLst>
          </p:cNvPr>
          <p:cNvSpPr txBox="1"/>
          <p:nvPr/>
        </p:nvSpPr>
        <p:spPr>
          <a:xfrm>
            <a:off x="914400" y="1905000"/>
            <a:ext cx="8255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我们不只是给 </a:t>
            </a:r>
            <a:r>
              <a:rPr lang="en-US" altLang="zh-CN">
                <a:solidFill>
                  <a:srgbClr val="EEF8FC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加了九个系统调用，而是把它整理成一套可学习、可复现、可验收的 </a:t>
            </a:r>
            <a:r>
              <a:rPr lang="en-US" altLang="zh-CN">
                <a:solidFill>
                  <a:srgbClr val="EEF8FC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入门实验包。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7931DE-53A1-59C7-3EFE-8904D5881663}"/>
              </a:ext>
            </a:extLst>
          </p:cNvPr>
          <p:cNvSpPr/>
          <p:nvPr/>
        </p:nvSpPr>
        <p:spPr>
          <a:xfrm>
            <a:off x="914400" y="2984500"/>
            <a:ext cx="7112000" cy="38100"/>
          </a:xfrm>
          <a:prstGeom prst="rect">
            <a:avLst/>
          </a:prstGeom>
          <a:solidFill>
            <a:srgbClr val="19D3E6"/>
          </a:solidFill>
          <a:ln w="1270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C1F8D94-9008-1FC7-192C-6BDC6AD6B56C}"/>
              </a:ext>
            </a:extLst>
          </p:cNvPr>
          <p:cNvSpPr/>
          <p:nvPr/>
        </p:nvSpPr>
        <p:spPr>
          <a:xfrm>
            <a:off x="914400" y="3429000"/>
            <a:ext cx="2396067" cy="736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可学习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D859A34-F16B-C463-2BBD-AC080B37CD62}"/>
              </a:ext>
            </a:extLst>
          </p:cNvPr>
          <p:cNvSpPr/>
          <p:nvPr/>
        </p:nvSpPr>
        <p:spPr>
          <a:xfrm>
            <a:off x="3462867" y="3429000"/>
            <a:ext cx="2396066" cy="7366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7A1E5B-A161-D180-22A1-3B5789D04F65}"/>
              </a:ext>
            </a:extLst>
          </p:cNvPr>
          <p:cNvSpPr/>
          <p:nvPr/>
        </p:nvSpPr>
        <p:spPr>
          <a:xfrm>
            <a:off x="6011333" y="3429000"/>
            <a:ext cx="2396067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可验收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C478783-3E80-D5AB-E59B-11036D0E65AA}"/>
              </a:ext>
            </a:extLst>
          </p:cNvPr>
          <p:cNvSpPr/>
          <p:nvPr/>
        </p:nvSpPr>
        <p:spPr>
          <a:xfrm>
            <a:off x="9144000" y="1397000"/>
            <a:ext cx="1905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db85947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52DCBE2-36ED-D84A-E71E-14A8DA32A730}"/>
              </a:ext>
            </a:extLst>
          </p:cNvPr>
          <p:cNvSpPr/>
          <p:nvPr/>
        </p:nvSpPr>
        <p:spPr>
          <a:xfrm>
            <a:off x="9144000" y="2476500"/>
            <a:ext cx="1905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81EC485-D496-8A24-68BA-154AB5B89C40}"/>
              </a:ext>
            </a:extLst>
          </p:cNvPr>
          <p:cNvSpPr/>
          <p:nvPr/>
        </p:nvSpPr>
        <p:spPr>
          <a:xfrm>
            <a:off x="9144000" y="3556000"/>
            <a:ext cx="1905000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三方通过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E283B7A-18B9-CAC6-023E-6EA6E3A436FF}"/>
              </a:ext>
            </a:extLst>
          </p:cNvPr>
          <p:cNvSpPr txBox="1"/>
          <p:nvPr/>
        </p:nvSpPr>
        <p:spPr>
          <a:xfrm>
            <a:off x="914400" y="53848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赛题：</a:t>
            </a:r>
            <a:r>
              <a:rPr lang="en-US" altLang="zh-CN" sz="1100">
                <a:solidFill>
                  <a:srgbClr val="7F98A9"/>
                </a:solidFill>
                <a:latin typeface="Microsoft YaHei" panose="020B0503020204020204" pitchFamily="34" charset="-122"/>
              </a:rPr>
              <a:t>2026 OS </a:t>
            </a:r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功能挑战赛道 </a:t>
            </a:r>
            <a:r>
              <a:rPr lang="en-US" altLang="zh-CN" sz="1100">
                <a:solidFill>
                  <a:srgbClr val="7F98A9"/>
                </a:solidFill>
                <a:latin typeface="Microsoft YaHei" panose="020B0503020204020204" pitchFamily="34" charset="-122"/>
              </a:rPr>
              <a:t>proj54</a:t>
            </a:r>
            <a:endParaRPr lang="zh-CN" altLang="en-US" sz="1100">
              <a:solidFill>
                <a:srgbClr val="7F98A9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1CD345-4320-F6AF-77AF-792F831ED7A1}"/>
              </a:ext>
            </a:extLst>
          </p:cNvPr>
          <p:cNvSpPr txBox="1"/>
          <p:nvPr/>
        </p:nvSpPr>
        <p:spPr>
          <a:xfrm>
            <a:off x="914400" y="57404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队伍：中国海洋大学“蓝色系统队”</a:t>
            </a:r>
          </a:p>
        </p:txBody>
      </p:sp>
    </p:spTree>
    <p:extLst>
      <p:ext uri="{BB962C8B-B14F-4D97-AF65-F5344CB8AC3E}">
        <p14:creationId xmlns:p14="http://schemas.microsoft.com/office/powerpoint/2010/main" val="3990901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964BE7C-D6FB-E4CD-901F-6148AB8951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C40138-0782-6DB6-29CE-6AAEFBFE511A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292ADB-3B40-F76B-4A11-AF63123F4076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9A4A3A-F4D2-01CB-1BA8-08A731F1AAD6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评分口径决定路线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1811AB0-A805-D9AA-5A6A-93A29C6B4920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065CB2C-B668-E2A8-264B-83ED7B88DF81}"/>
              </a:ext>
            </a:extLst>
          </p:cNvPr>
          <p:cNvSpPr txBox="1"/>
          <p:nvPr/>
        </p:nvSpPr>
        <p:spPr>
          <a:xfrm>
            <a:off x="2006600" y="1117600"/>
            <a:ext cx="8382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这个赛题不是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LTP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刷分赛道，官方评价把源代码执行、文档、答辩过程和演示材料放在同一条线上。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EC76297-CB02-3D27-024A-FAD15530F9C2}"/>
              </a:ext>
            </a:extLst>
          </p:cNvPr>
          <p:cNvSpPr/>
          <p:nvPr/>
        </p:nvSpPr>
        <p:spPr>
          <a:xfrm>
            <a:off x="20828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初赛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F528F1F-99F3-7F56-B0E7-7DDAA9CC3D03}"/>
              </a:ext>
            </a:extLst>
          </p:cNvPr>
          <p:cNvSpPr/>
          <p:nvPr/>
        </p:nvSpPr>
        <p:spPr>
          <a:xfrm>
            <a:off x="20828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源代码执行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50%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文档展示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50%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70BED6F-DC2E-3580-9B35-D218D8AC22A3}"/>
              </a:ext>
            </a:extLst>
          </p:cNvPr>
          <p:cNvSpPr/>
          <p:nvPr/>
        </p:nvSpPr>
        <p:spPr>
          <a:xfrm>
            <a:off x="52070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决赛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7144813-899A-2ACA-74FA-75A7477C15DD}"/>
              </a:ext>
            </a:extLst>
          </p:cNvPr>
          <p:cNvSpPr/>
          <p:nvPr/>
        </p:nvSpPr>
        <p:spPr>
          <a:xfrm>
            <a:off x="52070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初赛成绩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20%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决赛表现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80%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FC1CFE0-3714-6274-4720-FE91CB5419F1}"/>
              </a:ext>
            </a:extLst>
          </p:cNvPr>
          <p:cNvSpPr/>
          <p:nvPr/>
        </p:nvSpPr>
        <p:spPr>
          <a:xfrm>
            <a:off x="83312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决赛阶段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FE0F413-EA7D-1BD5-1E63-6BACE99F12D4}"/>
              </a:ext>
            </a:extLst>
          </p:cNvPr>
          <p:cNvSpPr/>
          <p:nvPr/>
        </p:nvSpPr>
        <p:spPr>
          <a:xfrm>
            <a:off x="83312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执行展示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15%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设计文档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25%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答辩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过程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源码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/PPT/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视频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40%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E614C5D-42F1-C28A-6360-BEF791AC8F46}"/>
              </a:ext>
            </a:extLst>
          </p:cNvPr>
          <p:cNvSpPr/>
          <p:nvPr/>
        </p:nvSpPr>
        <p:spPr>
          <a:xfrm>
            <a:off x="2895600" y="5270500"/>
            <a:ext cx="7048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我们的路线：代码功能适度，文档体系完整，复现证据可核验</a:t>
            </a:r>
          </a:p>
        </p:txBody>
      </p:sp>
    </p:spTree>
    <p:extLst>
      <p:ext uri="{BB962C8B-B14F-4D97-AF65-F5344CB8AC3E}">
        <p14:creationId xmlns:p14="http://schemas.microsoft.com/office/powerpoint/2010/main" val="2238016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882FBA7-8A94-23EC-0010-4460C43B08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3893D7-E412-16D8-5A0B-277A61807FF3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4661D43-52ED-71C6-59AB-336B14C70E92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3700FA2-C6E5-FACE-036A-4425155823A6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复现才是第一道坎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C9244F-8E59-D44F-027B-3A9CD4DCEFE5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03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D5019C-4694-DB6F-B0E4-5B36DD80485E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真实教学场景里，学生和队友最容易卡在环境、补丁顺序、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QEMU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、日志和验收口径。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7918798-E9D2-0CEF-2528-A462595C4185}"/>
              </a:ext>
            </a:extLst>
          </p:cNvPr>
          <p:cNvSpPr/>
          <p:nvPr/>
        </p:nvSpPr>
        <p:spPr>
          <a:xfrm>
            <a:off x="9144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6940EA1-840A-F45F-2C4F-44FF99CE4424}"/>
              </a:ext>
            </a:extLst>
          </p:cNvPr>
          <p:cNvSpPr/>
          <p:nvPr/>
        </p:nvSpPr>
        <p:spPr>
          <a:xfrm>
            <a:off x="9144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环境：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WSL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RISC-V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工具链、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QEMU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版本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A99E0AA-2E66-838A-FD5D-1F89444FF313}"/>
              </a:ext>
            </a:extLst>
          </p:cNvPr>
          <p:cNvSpPr/>
          <p:nvPr/>
        </p:nvSpPr>
        <p:spPr>
          <a:xfrm>
            <a:off x="27178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过程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7335F00-1951-8E42-B805-49AD8EB0C37E}"/>
              </a:ext>
            </a:extLst>
          </p:cNvPr>
          <p:cNvSpPr/>
          <p:nvPr/>
        </p:nvSpPr>
        <p:spPr>
          <a:xfrm>
            <a:off x="27178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过程：应用补丁、编译、启动、运行命令容易混在一起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EAFB63B-A450-6B93-8CE3-0636FA9683EC}"/>
              </a:ext>
            </a:extLst>
          </p:cNvPr>
          <p:cNvSpPr/>
          <p:nvPr/>
        </p:nvSpPr>
        <p:spPr>
          <a:xfrm>
            <a:off x="45212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运行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A6B8D55-EA38-AAEA-F80B-2D6905738758}"/>
              </a:ext>
            </a:extLst>
          </p:cNvPr>
          <p:cNvSpPr/>
          <p:nvPr/>
        </p:nvSpPr>
        <p:spPr>
          <a:xfrm>
            <a:off x="45212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运行：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Ctrl+Z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会挂起 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QEMU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，不是退出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916A5AC-7F77-75DD-75FB-402E48ABC1DF}"/>
              </a:ext>
            </a:extLst>
          </p:cNvPr>
          <p:cNvSpPr/>
          <p:nvPr/>
        </p:nvSpPr>
        <p:spPr>
          <a:xfrm>
            <a:off x="63246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证据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C4F40D1-89D2-F2CC-E66D-A2AD6D1912F2}"/>
              </a:ext>
            </a:extLst>
          </p:cNvPr>
          <p:cNvSpPr/>
          <p:nvPr/>
        </p:nvSpPr>
        <p:spPr>
          <a:xfrm>
            <a:off x="63246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证据：截图不能替代摘要、命令和 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SHA256</a:t>
            </a:r>
            <a:endParaRPr lang="zh-CN" altLang="en-US" sz="950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3E7C6DE-504D-E36A-B1D5-32E0B90D4995}"/>
              </a:ext>
            </a:extLst>
          </p:cNvPr>
          <p:cNvSpPr/>
          <p:nvPr/>
        </p:nvSpPr>
        <p:spPr>
          <a:xfrm>
            <a:off x="11684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环境检查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776018D-12FE-EA6B-9142-4AF8C2393208}"/>
              </a:ext>
            </a:extLst>
          </p:cNvPr>
          <p:cNvSpPr txBox="1"/>
          <p:nvPr/>
        </p:nvSpPr>
        <p:spPr>
          <a:xfrm>
            <a:off x="23876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BBB5FB2-892F-088C-2E67-B3B84DF79813}"/>
              </a:ext>
            </a:extLst>
          </p:cNvPr>
          <p:cNvSpPr/>
          <p:nvPr/>
        </p:nvSpPr>
        <p:spPr>
          <a:xfrm>
            <a:off x="26670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应用编译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796AA4D-E1B4-8AE5-322F-2613EA71B518}"/>
              </a:ext>
            </a:extLst>
          </p:cNvPr>
          <p:cNvSpPr txBox="1"/>
          <p:nvPr/>
        </p:nvSpPr>
        <p:spPr>
          <a:xfrm>
            <a:off x="38862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CD939DCB-F33A-2C01-B619-80F29D6C3380}"/>
              </a:ext>
            </a:extLst>
          </p:cNvPr>
          <p:cNvSpPr/>
          <p:nvPr/>
        </p:nvSpPr>
        <p:spPr>
          <a:xfrm>
            <a:off x="41656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启动运行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EE85CDA-607E-3947-40C0-9B483D228E6A}"/>
              </a:ext>
            </a:extLst>
          </p:cNvPr>
          <p:cNvSpPr txBox="1"/>
          <p:nvPr/>
        </p:nvSpPr>
        <p:spPr>
          <a:xfrm>
            <a:off x="53848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CFF501D-D648-398A-4742-7EB3034B9B6E}"/>
              </a:ext>
            </a:extLst>
          </p:cNvPr>
          <p:cNvSpPr/>
          <p:nvPr/>
        </p:nvSpPr>
        <p:spPr>
          <a:xfrm>
            <a:off x="56642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71882751-FF59-21E3-C602-16617A14CC2C}"/>
              </a:ext>
            </a:extLst>
          </p:cNvPr>
          <p:cNvSpPr txBox="1"/>
          <p:nvPr/>
        </p:nvSpPr>
        <p:spPr>
          <a:xfrm>
            <a:off x="68834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F02F620-F5F9-8D02-A8F3-78798ABB8409}"/>
              </a:ext>
            </a:extLst>
          </p:cNvPr>
          <p:cNvSpPr/>
          <p:nvPr/>
        </p:nvSpPr>
        <p:spPr>
          <a:xfrm>
            <a:off x="7162800" y="5029200"/>
            <a:ext cx="1168400" cy="533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证据索引</a:t>
            </a:r>
          </a:p>
        </p:txBody>
      </p:sp>
    </p:spTree>
    <p:extLst>
      <p:ext uri="{BB962C8B-B14F-4D97-AF65-F5344CB8AC3E}">
        <p14:creationId xmlns:p14="http://schemas.microsoft.com/office/powerpoint/2010/main" val="2303013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04C2640-8C58-701D-55C9-051952B7B2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6CDDB7-5A4B-3EC3-C910-D354A28C7B4F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37596F-5339-1149-6C97-4E57D33EE612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5620CD-99BC-897F-87D0-2ABEFD60A02B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项目定位：课程实验包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BB0F223-5462-ABC4-E7E1-B2A16F2CF35C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04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9FFF895-B476-E1BE-CB16-8078FDE99FD9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同一套仓库要让学生能学、老师能布置、助教能验收、评委能复现。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5FC47E3-5AC6-C3BF-A056-7F4CDF812B7E}"/>
              </a:ext>
            </a:extLst>
          </p:cNvPr>
          <p:cNvSpPr/>
          <p:nvPr/>
        </p:nvSpPr>
        <p:spPr>
          <a:xfrm>
            <a:off x="5232400" y="2857500"/>
            <a:ext cx="1905000" cy="1016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Microsoft YaHei" panose="020B0503020204020204" pitchFamily="34" charset="-122"/>
              </a:rPr>
              <a:t>OUC xv6 </a:t>
            </a:r>
            <a:r>
              <a:rPr lang="zh-CN" altLang="en-US" b="1">
                <a:solidFill>
                  <a:srgbClr val="FFFFFF"/>
                </a:solidFill>
                <a:latin typeface="Microsoft YaHei" panose="020B0503020204020204" pitchFamily="34" charset="-122"/>
              </a:rPr>
              <a:t>实验包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BE435D4-B095-BFEB-73B7-C20BA5C717E8}"/>
              </a:ext>
            </a:extLst>
          </p:cNvPr>
          <p:cNvSpPr/>
          <p:nvPr/>
        </p:nvSpPr>
        <p:spPr>
          <a:xfrm>
            <a:off x="2413000" y="20320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学生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2AE3D8A-DF6A-FE80-55AE-CA727BBF92ED}"/>
              </a:ext>
            </a:extLst>
          </p:cNvPr>
          <p:cNvSpPr/>
          <p:nvPr/>
        </p:nvSpPr>
        <p:spPr>
          <a:xfrm>
            <a:off x="2413000" y="26162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学生：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README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lab README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student_tasks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、预期输出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077585-A5F7-4D11-55EA-0ED8C08DCD5B}"/>
              </a:ext>
            </a:extLst>
          </p:cNvPr>
          <p:cNvSpPr/>
          <p:nvPr/>
        </p:nvSpPr>
        <p:spPr>
          <a:xfrm>
            <a:off x="8026400" y="20320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老师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7E22ADA-9CF0-9566-2BF3-859E1D5DD6C9}"/>
              </a:ext>
            </a:extLst>
          </p:cNvPr>
          <p:cNvSpPr/>
          <p:nvPr/>
        </p:nvSpPr>
        <p:spPr>
          <a:xfrm>
            <a:off x="8026400" y="26162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老师：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teacher guide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、课程节奏、评分 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rubrics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C1D19B7-C959-299C-BC5E-432781AA72FE}"/>
              </a:ext>
            </a:extLst>
          </p:cNvPr>
          <p:cNvSpPr/>
          <p:nvPr/>
        </p:nvSpPr>
        <p:spPr>
          <a:xfrm>
            <a:off x="2413000" y="44704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助教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DC11F14-93A0-0B3D-0B9B-846F7D656960}"/>
              </a:ext>
            </a:extLst>
          </p:cNvPr>
          <p:cNvSpPr/>
          <p:nvPr/>
        </p:nvSpPr>
        <p:spPr>
          <a:xfrm>
            <a:off x="2413000" y="50546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助教：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labctl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、队友摘要、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grade-summaries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4703367-D1E1-DE6F-09F4-8E9A11EB039C}"/>
              </a:ext>
            </a:extLst>
          </p:cNvPr>
          <p:cNvSpPr/>
          <p:nvPr/>
        </p:nvSpPr>
        <p:spPr>
          <a:xfrm>
            <a:off x="8026400" y="44704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评委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B166831-2576-F03D-194B-2916FDC87EAF}"/>
              </a:ext>
            </a:extLst>
          </p:cNvPr>
          <p:cNvSpPr/>
          <p:nvPr/>
        </p:nvSpPr>
        <p:spPr>
          <a:xfrm>
            <a:off x="8026400" y="50546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评委：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docs/final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、证据索引、最终演示元数据</a:t>
            </a:r>
          </a:p>
        </p:txBody>
      </p:sp>
    </p:spTree>
    <p:extLst>
      <p:ext uri="{BB962C8B-B14F-4D97-AF65-F5344CB8AC3E}">
        <p14:creationId xmlns:p14="http://schemas.microsoft.com/office/powerpoint/2010/main" val="4171671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95A1A8D-F3CE-8A85-54EA-5744C268BC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D2E92AF-A16F-487B-3A8C-7E5CC6F68B1A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03D659-325D-D81D-A05D-BB48EDDE059D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7BCAE0-A3D7-91FE-9548-8DB65A348A1E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证据从干净基线开始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FD063C-826A-0468-D4EC-B6134CD1C1C5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05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3669C74-E420-2222-6799-B26A811EFB6C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每次完整复现都从干净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xv6 baseline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出发，补丁、验证和证据文件之间有清晰链路。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48F1912-0C88-A238-A884-67BA39E6E07A}"/>
              </a:ext>
            </a:extLst>
          </p:cNvPr>
          <p:cNvSpPr/>
          <p:nvPr/>
        </p:nvSpPr>
        <p:spPr>
          <a:xfrm>
            <a:off x="889000" y="30226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干净基线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F004278-5891-E156-B6A7-32F2918CCC11}"/>
              </a:ext>
            </a:extLst>
          </p:cNvPr>
          <p:cNvSpPr txBox="1"/>
          <p:nvPr/>
        </p:nvSpPr>
        <p:spPr>
          <a:xfrm>
            <a:off x="23114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F03EFE8-C50D-2534-0986-D6F68A875C38}"/>
              </a:ext>
            </a:extLst>
          </p:cNvPr>
          <p:cNvSpPr/>
          <p:nvPr/>
        </p:nvSpPr>
        <p:spPr>
          <a:xfrm>
            <a:off x="2565400" y="38608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独立实验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674EBD-F5E2-E5FC-7EDD-026E075C88E8}"/>
              </a:ext>
            </a:extLst>
          </p:cNvPr>
          <p:cNvSpPr txBox="1"/>
          <p:nvPr/>
        </p:nvSpPr>
        <p:spPr>
          <a:xfrm>
            <a:off x="3987800" y="40386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9A9C059-05C4-A9D8-30F4-222A713DE21F}"/>
              </a:ext>
            </a:extLst>
          </p:cNvPr>
          <p:cNvSpPr/>
          <p:nvPr/>
        </p:nvSpPr>
        <p:spPr>
          <a:xfrm>
            <a:off x="4241800" y="3022600"/>
            <a:ext cx="1397000" cy="660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集成 </a:t>
            </a:r>
            <a:r>
              <a:rPr lang="en-US" altLang="zh-CN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1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C16CC-8C79-08B3-3733-30F55A6E6D8A}"/>
              </a:ext>
            </a:extLst>
          </p:cNvPr>
          <p:cNvSpPr txBox="1"/>
          <p:nvPr/>
        </p:nvSpPr>
        <p:spPr>
          <a:xfrm>
            <a:off x="56642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755081E-A9D7-A660-1C96-524A514640D4}"/>
              </a:ext>
            </a:extLst>
          </p:cNvPr>
          <p:cNvSpPr/>
          <p:nvPr/>
        </p:nvSpPr>
        <p:spPr>
          <a:xfrm>
            <a:off x="5918200" y="38608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labctl /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验证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9586D7A-135C-EE3C-CDCC-8E59BC3B8B65}"/>
              </a:ext>
            </a:extLst>
          </p:cNvPr>
          <p:cNvSpPr txBox="1"/>
          <p:nvPr/>
        </p:nvSpPr>
        <p:spPr>
          <a:xfrm>
            <a:off x="7340600" y="40386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CF5707B-D012-7DF8-F619-23D2F1C5835C}"/>
              </a:ext>
            </a:extLst>
          </p:cNvPr>
          <p:cNvSpPr/>
          <p:nvPr/>
        </p:nvSpPr>
        <p:spPr>
          <a:xfrm>
            <a:off x="7594600" y="30226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 </a:t>
            </a:r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汇总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A445AB6-E66A-52B5-4DAE-DBD094BA5BC0}"/>
              </a:ext>
            </a:extLst>
          </p:cNvPr>
          <p:cNvSpPr txBox="1"/>
          <p:nvPr/>
        </p:nvSpPr>
        <p:spPr>
          <a:xfrm>
            <a:off x="90170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D28FDD7-F2A0-14A1-0D2D-EDCF8C0F6E98}"/>
              </a:ext>
            </a:extLst>
          </p:cNvPr>
          <p:cNvSpPr/>
          <p:nvPr/>
        </p:nvSpPr>
        <p:spPr>
          <a:xfrm>
            <a:off x="9271000" y="3860800"/>
            <a:ext cx="1397000" cy="660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证据索引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DB600EA-B45D-FA09-54B3-2DEB75324824}"/>
              </a:ext>
            </a:extLst>
          </p:cNvPr>
          <p:cNvSpPr/>
          <p:nvPr/>
        </p:nvSpPr>
        <p:spPr>
          <a:xfrm>
            <a:off x="8407400" y="5016500"/>
            <a:ext cx="2413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不提交 </a:t>
            </a:r>
            <a:r>
              <a:rPr lang="en-US" altLang="zh-CN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external</a:t>
            </a:r>
          </a:p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不提交原始证据</a:t>
            </a:r>
          </a:p>
        </p:txBody>
      </p:sp>
    </p:spTree>
    <p:extLst>
      <p:ext uri="{BB962C8B-B14F-4D97-AF65-F5344CB8AC3E}">
        <p14:creationId xmlns:p14="http://schemas.microsoft.com/office/powerpoint/2010/main" val="1576216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B26D736-F528-1E99-0BA0-FE832244F03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E4EDAF9-9B64-2A8D-6F49-681D87A52CB2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7A15BD-72C2-3894-2062-83CE46C5BA04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F9D1EDC-D705-EE81-A5F4-10F5C9B235B8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矩阵：从环境到综合复现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66E4435-8AC5-A22D-3DF3-C9CCF6D0BECE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06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2DA455-339F-F89D-35F1-CC7ACE6A56B2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的设计目标是小步进入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机制，每一阶段都有明确学习点和验收项。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61BE647-4FE7-C281-DB50-97EB17F63CE4}"/>
              </a:ext>
            </a:extLst>
          </p:cNvPr>
          <p:cNvSpPr/>
          <p:nvPr/>
        </p:nvSpPr>
        <p:spPr>
          <a:xfrm>
            <a:off x="2095500" y="2032000"/>
            <a:ext cx="12700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A50F954-0D25-0B4C-F532-F0E5733E640C}"/>
              </a:ext>
            </a:extLst>
          </p:cNvPr>
          <p:cNvSpPr txBox="1"/>
          <p:nvPr/>
        </p:nvSpPr>
        <p:spPr>
          <a:xfrm>
            <a:off x="2146300" y="2184400"/>
            <a:ext cx="1168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7DF412A-F5D9-99D1-4255-926EEB610608}"/>
              </a:ext>
            </a:extLst>
          </p:cNvPr>
          <p:cNvSpPr/>
          <p:nvPr/>
        </p:nvSpPr>
        <p:spPr>
          <a:xfrm>
            <a:off x="3492500" y="2032000"/>
            <a:ext cx="27940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8FF874-9E11-C022-0B53-79DF5881AC84}"/>
              </a:ext>
            </a:extLst>
          </p:cNvPr>
          <p:cNvSpPr txBox="1"/>
          <p:nvPr/>
        </p:nvSpPr>
        <p:spPr>
          <a:xfrm>
            <a:off x="3543300" y="2184400"/>
            <a:ext cx="2692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学什么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FDD318B-52B1-EF29-FF0B-B732FA7DFB48}"/>
              </a:ext>
            </a:extLst>
          </p:cNvPr>
          <p:cNvSpPr/>
          <p:nvPr/>
        </p:nvSpPr>
        <p:spPr>
          <a:xfrm>
            <a:off x="6413500" y="2032000"/>
            <a:ext cx="35814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B46CA5-A380-1A06-2EAD-85AB4DE1905F}"/>
              </a:ext>
            </a:extLst>
          </p:cNvPr>
          <p:cNvSpPr txBox="1"/>
          <p:nvPr/>
        </p:nvSpPr>
        <p:spPr>
          <a:xfrm>
            <a:off x="6464300" y="2184400"/>
            <a:ext cx="3479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验什么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4E8C5DA-C208-4CEC-E79E-D144EE22BAFE}"/>
              </a:ext>
            </a:extLst>
          </p:cNvPr>
          <p:cNvSpPr/>
          <p:nvPr/>
        </p:nvSpPr>
        <p:spPr>
          <a:xfrm>
            <a:off x="2095500" y="26924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0066EF-4BC0-5193-9325-6195136BCC7A}"/>
              </a:ext>
            </a:extLst>
          </p:cNvPr>
          <p:cNvSpPr txBox="1"/>
          <p:nvPr/>
        </p:nvSpPr>
        <p:spPr>
          <a:xfrm>
            <a:off x="2146300" y="28194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Lab0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68D47BE-FC98-EAAB-190F-E9FD81FBAC34}"/>
              </a:ext>
            </a:extLst>
          </p:cNvPr>
          <p:cNvSpPr/>
          <p:nvPr/>
        </p:nvSpPr>
        <p:spPr>
          <a:xfrm>
            <a:off x="3492500" y="26924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AA5C23C-C4C9-1FCF-67F2-F6C6CE62A1C8}"/>
              </a:ext>
            </a:extLst>
          </p:cNvPr>
          <p:cNvSpPr txBox="1"/>
          <p:nvPr/>
        </p:nvSpPr>
        <p:spPr>
          <a:xfrm>
            <a:off x="3543300" y="28194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环境与启动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874A5D80-00AF-7CE2-932F-CBC3172A5C1D}"/>
              </a:ext>
            </a:extLst>
          </p:cNvPr>
          <p:cNvSpPr/>
          <p:nvPr/>
        </p:nvSpPr>
        <p:spPr>
          <a:xfrm>
            <a:off x="6413500" y="26924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F81BA0B-1A4D-89B6-9462-F7F88EAAF75F}"/>
              </a:ext>
            </a:extLst>
          </p:cNvPr>
          <p:cNvSpPr txBox="1"/>
          <p:nvPr/>
        </p:nvSpPr>
        <p:spPr>
          <a:xfrm>
            <a:off x="6464300" y="28194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build / boot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827E6A4-1456-DFE4-BD7E-C1A859AF15F9}"/>
              </a:ext>
            </a:extLst>
          </p:cNvPr>
          <p:cNvSpPr/>
          <p:nvPr/>
        </p:nvSpPr>
        <p:spPr>
          <a:xfrm>
            <a:off x="2095500" y="32385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1288EC8-8371-2710-EDA2-D18C5B547DDD}"/>
              </a:ext>
            </a:extLst>
          </p:cNvPr>
          <p:cNvSpPr txBox="1"/>
          <p:nvPr/>
        </p:nvSpPr>
        <p:spPr>
          <a:xfrm>
            <a:off x="2146300" y="33655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Lab1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77C74FE-F5AA-18F5-A332-52D4F5DAC123}"/>
              </a:ext>
            </a:extLst>
          </p:cNvPr>
          <p:cNvSpPr/>
          <p:nvPr/>
        </p:nvSpPr>
        <p:spPr>
          <a:xfrm>
            <a:off x="3492500" y="32385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CFCC83F-1E73-275F-D99A-8739EE190FFC}"/>
              </a:ext>
            </a:extLst>
          </p:cNvPr>
          <p:cNvSpPr txBox="1"/>
          <p:nvPr/>
        </p:nvSpPr>
        <p:spPr>
          <a:xfrm>
            <a:off x="3543300" y="33655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系统调用入口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7D81DC7-CCEC-2218-24C8-87013A14A693}"/>
              </a:ext>
            </a:extLst>
          </p:cNvPr>
          <p:cNvSpPr/>
          <p:nvPr/>
        </p:nvSpPr>
        <p:spPr>
          <a:xfrm>
            <a:off x="6413500" y="32385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1811E81-32E8-74B1-8061-829D980CB038}"/>
              </a:ext>
            </a:extLst>
          </p:cNvPr>
          <p:cNvSpPr txBox="1"/>
          <p:nvPr/>
        </p:nvSpPr>
        <p:spPr>
          <a:xfrm>
            <a:off x="6464300" y="33655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hello / add2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8701C5D-C3A2-657A-439C-38A5824A1E1A}"/>
              </a:ext>
            </a:extLst>
          </p:cNvPr>
          <p:cNvSpPr/>
          <p:nvPr/>
        </p:nvSpPr>
        <p:spPr>
          <a:xfrm>
            <a:off x="2095500" y="37846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99A8E97-A233-48D0-1134-BE57999E83A8}"/>
              </a:ext>
            </a:extLst>
          </p:cNvPr>
          <p:cNvSpPr txBox="1"/>
          <p:nvPr/>
        </p:nvSpPr>
        <p:spPr>
          <a:xfrm>
            <a:off x="2146300" y="39116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Lab2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3190AFAC-FC30-D4B4-5EF1-E1AE60BA8654}"/>
              </a:ext>
            </a:extLst>
          </p:cNvPr>
          <p:cNvSpPr/>
          <p:nvPr/>
        </p:nvSpPr>
        <p:spPr>
          <a:xfrm>
            <a:off x="3492500" y="37846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35E3808-B5B9-D447-06CB-20594A4FEB37}"/>
              </a:ext>
            </a:extLst>
          </p:cNvPr>
          <p:cNvSpPr txBox="1"/>
          <p:nvPr/>
        </p:nvSpPr>
        <p:spPr>
          <a:xfrm>
            <a:off x="3543300" y="39116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进程状态观察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41CF4-73DA-C538-1A90-D01136480246}"/>
              </a:ext>
            </a:extLst>
          </p:cNvPr>
          <p:cNvSpPr/>
          <p:nvPr/>
        </p:nvSpPr>
        <p:spPr>
          <a:xfrm>
            <a:off x="6413500" y="37846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2318DD4-F98F-9031-7DB3-04C01D86B986}"/>
              </a:ext>
            </a:extLst>
          </p:cNvPr>
          <p:cNvSpPr txBox="1"/>
          <p:nvPr/>
        </p:nvSpPr>
        <p:spPr>
          <a:xfrm>
            <a:off x="6464300" y="39116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pstate / pcount / pchildtest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147C553-6018-4BDB-CCE4-E20759B1D141}"/>
              </a:ext>
            </a:extLst>
          </p:cNvPr>
          <p:cNvSpPr/>
          <p:nvPr/>
        </p:nvSpPr>
        <p:spPr>
          <a:xfrm>
            <a:off x="2095500" y="43307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C83103C-2B62-7818-57EC-EE3060EDCAA6}"/>
              </a:ext>
            </a:extLst>
          </p:cNvPr>
          <p:cNvSpPr txBox="1"/>
          <p:nvPr/>
        </p:nvSpPr>
        <p:spPr>
          <a:xfrm>
            <a:off x="2146300" y="44577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Lab3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13809B0-CB62-A24E-3703-4B10D1A3DA4D}"/>
              </a:ext>
            </a:extLst>
          </p:cNvPr>
          <p:cNvSpPr/>
          <p:nvPr/>
        </p:nvSpPr>
        <p:spPr>
          <a:xfrm>
            <a:off x="3492500" y="43307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6392719-658C-F45B-9C0F-29BF29DD48C1}"/>
              </a:ext>
            </a:extLst>
          </p:cNvPr>
          <p:cNvSpPr txBox="1"/>
          <p:nvPr/>
        </p:nvSpPr>
        <p:spPr>
          <a:xfrm>
            <a:off x="3543300" y="44577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页表与 </a:t>
            </a:r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41B36C9-27AF-EAE3-E5D2-E1844D54A8C1}"/>
              </a:ext>
            </a:extLst>
          </p:cNvPr>
          <p:cNvSpPr/>
          <p:nvPr/>
        </p:nvSpPr>
        <p:spPr>
          <a:xfrm>
            <a:off x="6413500" y="43307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89D3870-5BC9-2452-747A-EBADC9E96FD0}"/>
              </a:ext>
            </a:extLst>
          </p:cNvPr>
          <p:cNvSpPr txBox="1"/>
          <p:nvPr/>
        </p:nvSpPr>
        <p:spPr>
          <a:xfrm>
            <a:off x="6464300" y="44577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pgcount / memstat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01BC7046-FD05-25FC-F23F-1CCA2AD44E18}"/>
              </a:ext>
            </a:extLst>
          </p:cNvPr>
          <p:cNvSpPr/>
          <p:nvPr/>
        </p:nvSpPr>
        <p:spPr>
          <a:xfrm>
            <a:off x="2095500" y="48768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BB5771D-ADAB-FD82-2C1E-45021E69A7AB}"/>
              </a:ext>
            </a:extLst>
          </p:cNvPr>
          <p:cNvSpPr txBox="1"/>
          <p:nvPr/>
        </p:nvSpPr>
        <p:spPr>
          <a:xfrm>
            <a:off x="2146300" y="50038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Lab4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20921A23-2CBC-F1C3-C8BF-D6586F907398}"/>
              </a:ext>
            </a:extLst>
          </p:cNvPr>
          <p:cNvSpPr/>
          <p:nvPr/>
        </p:nvSpPr>
        <p:spPr>
          <a:xfrm>
            <a:off x="3492500" y="48768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08EA999-93EF-695C-4863-AC929AF8D0D3}"/>
              </a:ext>
            </a:extLst>
          </p:cNvPr>
          <p:cNvSpPr txBox="1"/>
          <p:nvPr/>
        </p:nvSpPr>
        <p:spPr>
          <a:xfrm>
            <a:off x="3543300" y="50038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file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052E673A-3102-00DA-46C2-2DB23CDDAC1C}"/>
              </a:ext>
            </a:extLst>
          </p:cNvPr>
          <p:cNvSpPr/>
          <p:nvPr/>
        </p:nvSpPr>
        <p:spPr>
          <a:xfrm>
            <a:off x="6413500" y="48768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9A2987D-11D6-45CD-4D8D-376EA7C8C359}"/>
              </a:ext>
            </a:extLst>
          </p:cNvPr>
          <p:cNvSpPr txBox="1"/>
          <p:nvPr/>
        </p:nvSpPr>
        <p:spPr>
          <a:xfrm>
            <a:off x="6464300" y="50038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fcount / fdcount / fdinfo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0744D4F-7422-CA3D-5FDD-E2ADAADF9FFA}"/>
              </a:ext>
            </a:extLst>
          </p:cNvPr>
          <p:cNvSpPr/>
          <p:nvPr/>
        </p:nvSpPr>
        <p:spPr>
          <a:xfrm>
            <a:off x="2095500" y="5422900"/>
            <a:ext cx="12700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F74FBF-17CB-2524-471E-3580C8D3D67E}"/>
              </a:ext>
            </a:extLst>
          </p:cNvPr>
          <p:cNvSpPr txBox="1"/>
          <p:nvPr/>
        </p:nvSpPr>
        <p:spPr>
          <a:xfrm>
            <a:off x="2146300" y="55499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Lab5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C101968-2CB0-134B-4052-8EC70BF00636}"/>
              </a:ext>
            </a:extLst>
          </p:cNvPr>
          <p:cNvSpPr/>
          <p:nvPr/>
        </p:nvSpPr>
        <p:spPr>
          <a:xfrm>
            <a:off x="3492500" y="5422900"/>
            <a:ext cx="27940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718BC67-2EC2-5D82-FD38-CCAFAC33F98B}"/>
              </a:ext>
            </a:extLst>
          </p:cNvPr>
          <p:cNvSpPr txBox="1"/>
          <p:nvPr/>
        </p:nvSpPr>
        <p:spPr>
          <a:xfrm>
            <a:off x="3543300" y="55499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综合复现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07B0FD8-D5F3-B836-2A5A-AF07D5EDADF0}"/>
              </a:ext>
            </a:extLst>
          </p:cNvPr>
          <p:cNvSpPr/>
          <p:nvPr/>
        </p:nvSpPr>
        <p:spPr>
          <a:xfrm>
            <a:off x="6413500" y="5422900"/>
            <a:ext cx="35814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2EA0D99-3297-FAE9-C081-5655C833FDA8}"/>
              </a:ext>
            </a:extLst>
          </p:cNvPr>
          <p:cNvSpPr txBox="1"/>
          <p:nvPr/>
        </p:nvSpPr>
        <p:spPr>
          <a:xfrm>
            <a:off x="6464300" y="55499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</a:t>
            </a:r>
          </a:p>
        </p:txBody>
      </p:sp>
    </p:spTree>
    <p:extLst>
      <p:ext uri="{BB962C8B-B14F-4D97-AF65-F5344CB8AC3E}">
        <p14:creationId xmlns:p14="http://schemas.microsoft.com/office/powerpoint/2010/main" val="1421720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72C6AC-1F1A-006C-BB77-D9B7E644C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CB65B2-840F-E142-D68F-650EE84B2E2E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0A7E6F-0901-8E83-DC49-9383DBD9A9F1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8E708A-B99C-606F-21D1-4823869067AD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Lab1/2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：先走通内核入口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1E5363-E129-285D-A649-F423D33FA008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07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1310FB-91F1-94C4-823E-C277664B3257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Lab1/2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让学生从最小系统调用进入内核，再观察进程表和调度带来的非固定输出。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46C1E81-E3FC-D7AF-BC79-6B72D285F2FB}"/>
              </a:ext>
            </a:extLst>
          </p:cNvPr>
          <p:cNvSpPr/>
          <p:nvPr/>
        </p:nvSpPr>
        <p:spPr>
          <a:xfrm>
            <a:off x="2133600" y="2209800"/>
            <a:ext cx="11176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用户程序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EEFAB9-32E7-08D5-1DD4-95F19613840E}"/>
              </a:ext>
            </a:extLst>
          </p:cNvPr>
          <p:cNvSpPr txBox="1"/>
          <p:nvPr/>
        </p:nvSpPr>
        <p:spPr>
          <a:xfrm>
            <a:off x="32766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6E26F4-DBA2-ACA3-62F0-CCEE718510AA}"/>
              </a:ext>
            </a:extLst>
          </p:cNvPr>
          <p:cNvSpPr/>
          <p:nvPr/>
        </p:nvSpPr>
        <p:spPr>
          <a:xfrm>
            <a:off x="35560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usys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149C444-A0B3-5E2E-2F14-C30209ABA2B1}"/>
              </a:ext>
            </a:extLst>
          </p:cNvPr>
          <p:cNvSpPr txBox="1"/>
          <p:nvPr/>
        </p:nvSpPr>
        <p:spPr>
          <a:xfrm>
            <a:off x="46990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2B498B6-972A-1706-00C8-DE1BC797DA7C}"/>
              </a:ext>
            </a:extLst>
          </p:cNvPr>
          <p:cNvSpPr/>
          <p:nvPr/>
        </p:nvSpPr>
        <p:spPr>
          <a:xfrm>
            <a:off x="49784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syscall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298127-27F5-8F7D-9EEF-96DA03E8E046}"/>
              </a:ext>
            </a:extLst>
          </p:cNvPr>
          <p:cNvSpPr txBox="1"/>
          <p:nvPr/>
        </p:nvSpPr>
        <p:spPr>
          <a:xfrm>
            <a:off x="61214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0BED2AB-86B5-D8AC-52EE-62B8EDD7C2E6}"/>
              </a:ext>
            </a:extLst>
          </p:cNvPr>
          <p:cNvSpPr/>
          <p:nvPr/>
        </p:nvSpPr>
        <p:spPr>
          <a:xfrm>
            <a:off x="64008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sys_*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B2F300E-6ED9-FE93-2ACE-D5130A8C825D}"/>
              </a:ext>
            </a:extLst>
          </p:cNvPr>
          <p:cNvSpPr txBox="1"/>
          <p:nvPr/>
        </p:nvSpPr>
        <p:spPr>
          <a:xfrm>
            <a:off x="75438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AC04337-952A-30F4-8E30-E091FC22729E}"/>
              </a:ext>
            </a:extLst>
          </p:cNvPr>
          <p:cNvSpPr/>
          <p:nvPr/>
        </p:nvSpPr>
        <p:spPr>
          <a:xfrm>
            <a:off x="78232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kernel helper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DF21117-6C5D-D9EA-2BFB-7D7923179C67}"/>
              </a:ext>
            </a:extLst>
          </p:cNvPr>
          <p:cNvSpPr/>
          <p:nvPr/>
        </p:nvSpPr>
        <p:spPr>
          <a:xfrm>
            <a:off x="2921000" y="3810000"/>
            <a:ext cx="2032000" cy="482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进程表快照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6E92763-8BC6-9CEA-CB6D-BD7FD02D0506}"/>
              </a:ext>
            </a:extLst>
          </p:cNvPr>
          <p:cNvSpPr/>
          <p:nvPr/>
        </p:nvSpPr>
        <p:spPr>
          <a:xfrm>
            <a:off x="2667000" y="4445000"/>
            <a:ext cx="2540000" cy="736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pstate / pcount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：进程状态观察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2542A87-499C-06DB-53E7-9F18F8591C06}"/>
              </a:ext>
            </a:extLst>
          </p:cNvPr>
          <p:cNvSpPr/>
          <p:nvPr/>
        </p:nvSpPr>
        <p:spPr>
          <a:xfrm>
            <a:off x="6604000" y="3962400"/>
            <a:ext cx="2667000" cy="889000"/>
          </a:xfrm>
          <a:prstGeom prst="roundRect">
            <a:avLst/>
          </a:prstGeom>
          <a:solidFill>
            <a:srgbClr val="7CE8F2"/>
          </a:solidFill>
          <a:ln w="13970">
            <a:solidFill>
              <a:srgbClr val="7C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状态受调度影响</a:t>
            </a:r>
          </a:p>
        </p:txBody>
      </p:sp>
    </p:spTree>
    <p:extLst>
      <p:ext uri="{BB962C8B-B14F-4D97-AF65-F5344CB8AC3E}">
        <p14:creationId xmlns:p14="http://schemas.microsoft.com/office/powerpoint/2010/main" val="4004200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021862B-111C-545E-0479-4E56A41F0D9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6B5E4BF-1DFB-4C73-4573-02A096C05E92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D2E749-D62A-633E-7B35-E73FEBC72384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20D0066-53FC-B850-D391-020D50882742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Lab3</a:t>
            </a:r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：页表与 </a:t>
            </a:r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2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BC6F622-A4D3-50F8-748D-69A9E4FDE56B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08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115F3ED-4CA8-C5FC-7ECC-1F0ED8334F24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Lab3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通过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pgcount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memstat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区分“地址空间增长”和“真实用户页映射”。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7661345-3C26-9CF0-85CB-5D06F2CAEC83}"/>
              </a:ext>
            </a:extLst>
          </p:cNvPr>
          <p:cNvSpPr/>
          <p:nvPr/>
        </p:nvSpPr>
        <p:spPr>
          <a:xfrm>
            <a:off x="1143000" y="2159000"/>
            <a:ext cx="2095500" cy="431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eager sbrk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8035775-DAE6-1262-5362-2D034E9151C6}"/>
              </a:ext>
            </a:extLst>
          </p:cNvPr>
          <p:cNvSpPr/>
          <p:nvPr/>
        </p:nvSpPr>
        <p:spPr>
          <a:xfrm>
            <a:off x="1219200" y="2819400"/>
            <a:ext cx="1905000" cy="8890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立即映射 </a:t>
            </a:r>
            <a:r>
              <a:rPr lang="en-US" altLang="zh-CN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2 </a:t>
            </a:r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页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52F133C-F95F-C1B9-8726-C2A0D866FCE5}"/>
              </a:ext>
            </a:extLst>
          </p:cNvPr>
          <p:cNvSpPr/>
          <p:nvPr/>
        </p:nvSpPr>
        <p:spPr>
          <a:xfrm>
            <a:off x="4191000" y="2159000"/>
            <a:ext cx="2095500" cy="431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lazy sbrklazy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C7C6C26-1510-CD91-B198-98E678B7635E}"/>
              </a:ext>
            </a:extLst>
          </p:cNvPr>
          <p:cNvSpPr/>
          <p:nvPr/>
        </p:nvSpPr>
        <p:spPr>
          <a:xfrm>
            <a:off x="4292600" y="2819400"/>
            <a:ext cx="1905000" cy="5715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touch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前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0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5124688-FC2C-9772-67B8-266C5268E265}"/>
              </a:ext>
            </a:extLst>
          </p:cNvPr>
          <p:cNvSpPr/>
          <p:nvPr/>
        </p:nvSpPr>
        <p:spPr>
          <a:xfrm>
            <a:off x="4292600" y="3606800"/>
            <a:ext cx="1905000" cy="762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touch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后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1 / 2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E2E7F25-AEE1-7F27-EB07-4C5A3B60CDCF}"/>
              </a:ext>
            </a:extLst>
          </p:cNvPr>
          <p:cNvSpPr/>
          <p:nvPr/>
        </p:nvSpPr>
        <p:spPr>
          <a:xfrm>
            <a:off x="7302500" y="3098800"/>
            <a:ext cx="990600" cy="558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EEF8FC"/>
                </a:solidFill>
                <a:latin typeface="Microsoft YaHei" panose="020B0503020204020204" pitchFamily="34" charset="-122"/>
              </a:rPr>
              <a:t>argaddr</a:t>
            </a:r>
            <a:endParaRPr lang="zh-CN" altLang="en-US" sz="10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A3AB283-C1E0-C43C-B514-9B4300721BD5}"/>
              </a:ext>
            </a:extLst>
          </p:cNvPr>
          <p:cNvSpPr txBox="1"/>
          <p:nvPr/>
        </p:nvSpPr>
        <p:spPr>
          <a:xfrm>
            <a:off x="8318500" y="3200400"/>
            <a:ext cx="25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B111A846-D13C-38B9-5C18-4113FBC2B8C2}"/>
              </a:ext>
            </a:extLst>
          </p:cNvPr>
          <p:cNvSpPr/>
          <p:nvPr/>
        </p:nvSpPr>
        <p:spPr>
          <a:xfrm>
            <a:off x="8521700" y="3098800"/>
            <a:ext cx="990600" cy="558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EEF8FC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10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03EF1EF-CA6E-C90F-912B-AF4BD22A3F91}"/>
              </a:ext>
            </a:extLst>
          </p:cNvPr>
          <p:cNvSpPr txBox="1"/>
          <p:nvPr/>
        </p:nvSpPr>
        <p:spPr>
          <a:xfrm>
            <a:off x="9537700" y="3200400"/>
            <a:ext cx="25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BBE2A16-5236-DD16-826C-1BB9EC1532CA}"/>
              </a:ext>
            </a:extLst>
          </p:cNvPr>
          <p:cNvSpPr/>
          <p:nvPr/>
        </p:nvSpPr>
        <p:spPr>
          <a:xfrm>
            <a:off x="9740900" y="3098800"/>
            <a:ext cx="990600" cy="5588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09243D"/>
                </a:solidFill>
                <a:latin typeface="Microsoft YaHei" panose="020B0503020204020204" pitchFamily="34" charset="-122"/>
              </a:rPr>
              <a:t>struct memstat</a:t>
            </a:r>
            <a:endParaRPr lang="zh-CN" altLang="en-US" sz="10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172FD6C-635C-0817-9382-4E9478033196}"/>
              </a:ext>
            </a:extLst>
          </p:cNvPr>
          <p:cNvSpPr/>
          <p:nvPr/>
        </p:nvSpPr>
        <p:spPr>
          <a:xfrm>
            <a:off x="2133600" y="5207000"/>
            <a:ext cx="6604000" cy="584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边界：这是页表观察，不是完整内存管理</a:t>
            </a:r>
          </a:p>
        </p:txBody>
      </p:sp>
    </p:spTree>
    <p:extLst>
      <p:ext uri="{BB962C8B-B14F-4D97-AF65-F5344CB8AC3E}">
        <p14:creationId xmlns:p14="http://schemas.microsoft.com/office/powerpoint/2010/main" val="3417066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D8A6695-41D4-085D-2C81-DA427C4F586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C0244B-A599-E90B-FEDE-71BF401C4044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9059C5C-E407-1DF7-0C0C-B0E52C0E5A8A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1E3241-E65A-E6C7-705F-D1E64A9ABC15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Lab4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file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的关系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BCF0EE-57C8-8E17-716E-B8351019A2F8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09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0FE663-0E68-73DA-599C-57CE765FB676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Lab4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把当前进程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fd table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和全局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file table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拆开观察，避免把文件系统讲成黑盒。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01CFE36-EE66-B580-AC50-A79209EC915B}"/>
              </a:ext>
            </a:extLst>
          </p:cNvPr>
          <p:cNvSpPr/>
          <p:nvPr/>
        </p:nvSpPr>
        <p:spPr>
          <a:xfrm>
            <a:off x="2413000" y="2603500"/>
            <a:ext cx="1905000" cy="1143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当前进程 </a:t>
            </a:r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ofile[]</a:t>
            </a:r>
          </a:p>
          <a:p>
            <a:pPr algn="ctr"/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fd 0 / 1 / 2 / 3</a:t>
            </a:r>
            <a:endParaRPr lang="zh-CN" altLang="en-US" sz="13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A5AFFA-7EFA-1BDF-4C33-599060140949}"/>
              </a:ext>
            </a:extLst>
          </p:cNvPr>
          <p:cNvSpPr txBox="1"/>
          <p:nvPr/>
        </p:nvSpPr>
        <p:spPr>
          <a:xfrm>
            <a:off x="4572000" y="2921000"/>
            <a:ext cx="38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400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2400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2882B6A-C7CB-66B4-A9A0-1185FE3DEF7A}"/>
              </a:ext>
            </a:extLst>
          </p:cNvPr>
          <p:cNvSpPr/>
          <p:nvPr/>
        </p:nvSpPr>
        <p:spPr>
          <a:xfrm>
            <a:off x="5207000" y="2603500"/>
            <a:ext cx="1905000" cy="1143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struct file</a:t>
            </a:r>
            <a:endParaRPr lang="zh-CN" altLang="en-US" sz="15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4CFE0E-CBDD-E068-3705-B02B95450C77}"/>
              </a:ext>
            </a:extLst>
          </p:cNvPr>
          <p:cNvSpPr txBox="1"/>
          <p:nvPr/>
        </p:nvSpPr>
        <p:spPr>
          <a:xfrm>
            <a:off x="7366000" y="2921000"/>
            <a:ext cx="38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400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2400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15EF7F5-9E23-30DC-CBF1-BA66345F3D33}"/>
              </a:ext>
            </a:extLst>
          </p:cNvPr>
          <p:cNvSpPr/>
          <p:nvPr/>
        </p:nvSpPr>
        <p:spPr>
          <a:xfrm>
            <a:off x="7975600" y="2603500"/>
            <a:ext cx="2159000" cy="1143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全局 </a:t>
            </a:r>
            <a:r>
              <a:rPr lang="en-US" altLang="zh-CN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file table</a:t>
            </a:r>
            <a:endParaRPr lang="zh-CN" altLang="en-US" sz="15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446630-D6A0-F3ED-736C-40C6F480CFEB}"/>
              </a:ext>
            </a:extLst>
          </p:cNvPr>
          <p:cNvSpPr/>
          <p:nvPr/>
        </p:nvSpPr>
        <p:spPr>
          <a:xfrm>
            <a:off x="2895600" y="4445000"/>
            <a:ext cx="2099733" cy="736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fcount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3A4CF6A-7F1F-687A-B900-D6F0B722AADB}"/>
              </a:ext>
            </a:extLst>
          </p:cNvPr>
          <p:cNvSpPr/>
          <p:nvPr/>
        </p:nvSpPr>
        <p:spPr>
          <a:xfrm>
            <a:off x="5147733" y="4445000"/>
            <a:ext cx="2099734" cy="7366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fdcount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3D24FF4-4BCD-DB73-7CCE-82F74B0C21E4}"/>
              </a:ext>
            </a:extLst>
          </p:cNvPr>
          <p:cNvSpPr/>
          <p:nvPr/>
        </p:nvSpPr>
        <p:spPr>
          <a:xfrm>
            <a:off x="7399867" y="4445000"/>
            <a:ext cx="2099733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fdinfo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03854EF-4583-4F2E-0D0D-A2C44A55E5A6}"/>
              </a:ext>
            </a:extLst>
          </p:cNvPr>
          <p:cNvSpPr/>
          <p:nvPr/>
        </p:nvSpPr>
        <p:spPr>
          <a:xfrm>
            <a:off x="2984500" y="5562600"/>
            <a:ext cx="6350000" cy="53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边界：这是文件表观察，不是完整文件系统</a:t>
            </a:r>
          </a:p>
        </p:txBody>
      </p:sp>
    </p:spTree>
    <p:extLst>
      <p:ext uri="{BB962C8B-B14F-4D97-AF65-F5344CB8AC3E}">
        <p14:creationId xmlns:p14="http://schemas.microsoft.com/office/powerpoint/2010/main" val="2034490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12E852-83FA-BAF0-3CAB-9015DA6FBC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F63105-FA9C-7745-D230-810F1FD6AF9E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106762F-A602-BF0C-2669-F514CF5E3785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45E304-B36E-EA34-FDFD-BE49FA5D0D8A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Lab5</a:t>
            </a:r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：把实验变成验收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E395C90-942B-6346-B433-802CBB278AB1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10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17B32E6-BBF1-53E2-00F1-88134802CBBE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Lab5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不新增内核机制，而是把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Lab0-Lab4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串成一次完整的干净基线到全量验证。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83F11F9-A905-4254-8BE5-4623D8258AAF}"/>
              </a:ext>
            </a:extLst>
          </p:cNvPr>
          <p:cNvSpPr/>
          <p:nvPr/>
        </p:nvSpPr>
        <p:spPr>
          <a:xfrm>
            <a:off x="1524000" y="19558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干净基线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56E4925-B696-4934-D6A2-57D4D138752C}"/>
              </a:ext>
            </a:extLst>
          </p:cNvPr>
          <p:cNvSpPr/>
          <p:nvPr/>
        </p:nvSpPr>
        <p:spPr>
          <a:xfrm>
            <a:off x="1524000" y="25019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 </a:t>
            </a:r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26E7AE8-A1A6-EA7D-E47A-7B1C658D9DA1}"/>
              </a:ext>
            </a:extLst>
          </p:cNvPr>
          <p:cNvSpPr/>
          <p:nvPr/>
        </p:nvSpPr>
        <p:spPr>
          <a:xfrm>
            <a:off x="1524000" y="30480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make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BC86D8A-7C32-F62D-5082-5D74EAAC8A9B}"/>
              </a:ext>
            </a:extLst>
          </p:cNvPr>
          <p:cNvSpPr/>
          <p:nvPr/>
        </p:nvSpPr>
        <p:spPr>
          <a:xfrm>
            <a:off x="1524000" y="35941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boot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4F5E565-E1E7-C92E-E604-DDB308DADBDC}"/>
              </a:ext>
            </a:extLst>
          </p:cNvPr>
          <p:cNvSpPr/>
          <p:nvPr/>
        </p:nvSpPr>
        <p:spPr>
          <a:xfrm>
            <a:off x="1524000" y="4140200"/>
            <a:ext cx="2921000" cy="381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测试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4432B60-9120-B31B-4D53-161B8A87AB9B}"/>
              </a:ext>
            </a:extLst>
          </p:cNvPr>
          <p:cNvSpPr/>
          <p:nvPr/>
        </p:nvSpPr>
        <p:spPr>
          <a:xfrm>
            <a:off x="1524000" y="46863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3473E08-1356-1961-1662-F3E867FC96E0}"/>
              </a:ext>
            </a:extLst>
          </p:cNvPr>
          <p:cNvSpPr/>
          <p:nvPr/>
        </p:nvSpPr>
        <p:spPr>
          <a:xfrm>
            <a:off x="1524000" y="5232400"/>
            <a:ext cx="2921000" cy="3810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报告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D2F999F-DEE5-0557-9C04-FD0ACE00C9CA}"/>
              </a:ext>
            </a:extLst>
          </p:cNvPr>
          <p:cNvSpPr/>
          <p:nvPr/>
        </p:nvSpPr>
        <p:spPr>
          <a:xfrm>
            <a:off x="6858000" y="3111500"/>
            <a:ext cx="2540000" cy="12065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Lab5 = </a:t>
            </a:r>
            <a:r>
              <a:rPr lang="zh-CN" altLang="en-US" b="1">
                <a:solidFill>
                  <a:srgbClr val="09243D"/>
                </a:solidFill>
                <a:latin typeface="Microsoft YaHei" panose="020B0503020204020204" pitchFamily="34" charset="-122"/>
              </a:rPr>
              <a:t>综合复现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09F0829-EDE3-8BE3-FE10-63EFD2C34568}"/>
              </a:ext>
            </a:extLst>
          </p:cNvPr>
          <p:cNvSpPr/>
          <p:nvPr/>
        </p:nvSpPr>
        <p:spPr>
          <a:xfrm>
            <a:off x="6426200" y="4648200"/>
            <a:ext cx="3556000" cy="10160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</a:t>
            </a:r>
            <a:r>
              <a:rPr lang="zh-CN" altLang="en-US" sz="1100">
                <a:solidFill>
                  <a:srgbClr val="EEF8FC"/>
                </a:solidFill>
                <a:latin typeface="Microsoft YaHei" panose="020B0503020204020204" pitchFamily="34" charset="-122"/>
              </a:rPr>
              <a:t>干净基线</a:t>
            </a:r>
          </a:p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</a:t>
            </a:r>
            <a:r>
              <a:rPr lang="zh-CN" altLang="en-US" sz="1100">
                <a:solidFill>
                  <a:srgbClr val="EEF8FC"/>
                </a:solidFill>
                <a:latin typeface="Microsoft YaHei" panose="020B0503020204020204" pitchFamily="34" charset="-122"/>
              </a:rPr>
              <a:t>应用集成补丁 </a:t>
            </a:r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0001-0009</a:t>
            </a:r>
          </a:p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make</a:t>
            </a:r>
            <a:endParaRPr lang="zh-CN" altLang="en-US" sz="1100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28207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AC20A2C-67AF-2F16-83A8-E9762A79132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E608F58-E63C-0CC8-E6C6-2A3DF789AA7C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678DF6F-9971-4601-430C-759BF609A75E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9B642C-8829-D0E9-59D4-43E4B72926B9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工具链：从脚本到课程入口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A2E120-F4BB-8AE7-2672-67E2C97F0745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11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E57276-4388-C422-F217-EF5D4EE0382A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工具链把复杂命令收束成课程入口，同时保留真实日志、摘要和可复核证据。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8B6446F-F1DA-ADAE-B70F-B3F9FCFFF6FE}"/>
              </a:ext>
            </a:extLst>
          </p:cNvPr>
          <p:cNvSpPr/>
          <p:nvPr/>
        </p:nvSpPr>
        <p:spPr>
          <a:xfrm>
            <a:off x="5334000" y="2984500"/>
            <a:ext cx="1841500" cy="812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2000" b="1">
                <a:solidFill>
                  <a:srgbClr val="09243D"/>
                </a:solidFill>
                <a:latin typeface="Microsoft YaHei" panose="020B0503020204020204" pitchFamily="34" charset="-122"/>
              </a:rPr>
              <a:t>labctl</a:t>
            </a:r>
            <a:endParaRPr lang="zh-CN" altLang="en-US" sz="20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978161E-51E9-84E7-E1AA-5B6D4EF62154}"/>
              </a:ext>
            </a:extLst>
          </p:cNvPr>
          <p:cNvSpPr/>
          <p:nvPr/>
        </p:nvSpPr>
        <p:spPr>
          <a:xfrm>
            <a:off x="2667000" y="1905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teammate-verify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7BFAEFC-6EB2-EC06-EC8F-2126C2D8A73C}"/>
              </a:ext>
            </a:extLst>
          </p:cNvPr>
          <p:cNvSpPr/>
          <p:nvPr/>
        </p:nvSpPr>
        <p:spPr>
          <a:xfrm>
            <a:off x="8255000" y="1905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QEMU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8E3CD7-0692-3758-7CFB-AF78B7C4EE60}"/>
              </a:ext>
            </a:extLst>
          </p:cNvPr>
          <p:cNvSpPr/>
          <p:nvPr/>
        </p:nvSpPr>
        <p:spPr>
          <a:xfrm>
            <a:off x="2667000" y="4572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8D8FA3C-3781-83D1-6697-340342DEAA85}"/>
              </a:ext>
            </a:extLst>
          </p:cNvPr>
          <p:cNvSpPr/>
          <p:nvPr/>
        </p:nvSpPr>
        <p:spPr>
          <a:xfrm>
            <a:off x="8255000" y="4572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grade-summaries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376E55-F6F4-412C-7CD1-EA19AE1CAE2A}"/>
              </a:ext>
            </a:extLst>
          </p:cNvPr>
          <p:cNvSpPr/>
          <p:nvPr/>
        </p:nvSpPr>
        <p:spPr>
          <a:xfrm>
            <a:off x="5334000" y="5461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文档一致性</a:t>
            </a:r>
          </a:p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核验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EADD580-BA41-4778-F365-3AAC5128970F}"/>
              </a:ext>
            </a:extLst>
          </p:cNvPr>
          <p:cNvSpPr/>
          <p:nvPr/>
        </p:nvSpPr>
        <p:spPr>
          <a:xfrm>
            <a:off x="5334000" y="1905000"/>
            <a:ext cx="1841500" cy="482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课程入口</a:t>
            </a:r>
          </a:p>
        </p:txBody>
      </p:sp>
    </p:spTree>
    <p:extLst>
      <p:ext uri="{BB962C8B-B14F-4D97-AF65-F5344CB8AC3E}">
        <p14:creationId xmlns:p14="http://schemas.microsoft.com/office/powerpoint/2010/main" val="17497955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2F62F25-5E18-41D7-B54B-7EC1BD77E7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19B53C-B2AE-19B1-9AB1-1AB229B439CB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4B79F9B-F531-3F8B-3313-4E9FB1F9E42A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DF42FB-6CA1-7AD5-743A-8B1FB6D2ECCA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三方复现证据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5A692B-077E-985A-C026-A6C9F4211337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12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C670E7C-B5F1-0C62-C902-B34EA6FA6965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最终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HEAD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的结果不是单机截图，而是队长和两位队友的全量验证摘要。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2115A81-EC37-E8F4-DF55-BE6FD1A2515C}"/>
              </a:ext>
            </a:extLst>
          </p:cNvPr>
          <p:cNvSpPr/>
          <p:nvPr/>
        </p:nvSpPr>
        <p:spPr>
          <a:xfrm>
            <a:off x="1397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rain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FD22C1-6D88-90B2-194E-59CAF8C9C85D}"/>
              </a:ext>
            </a:extLst>
          </p:cNvPr>
          <p:cNvSpPr/>
          <p:nvPr/>
        </p:nvSpPr>
        <p:spPr>
          <a:xfrm>
            <a:off x="1397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31870D6-0847-5A89-62EC-FE153165E651}"/>
              </a:ext>
            </a:extLst>
          </p:cNvPr>
          <p:cNvSpPr/>
          <p:nvPr/>
        </p:nvSpPr>
        <p:spPr>
          <a:xfrm>
            <a:off x="4191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root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029C169-CC5C-BE05-9B6F-EA8A09BAD36B}"/>
              </a:ext>
            </a:extLst>
          </p:cNvPr>
          <p:cNvSpPr/>
          <p:nvPr/>
        </p:nvSpPr>
        <p:spPr>
          <a:xfrm>
            <a:off x="4191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7F4DC96-13A1-8904-A702-7D8D2275B6C3}"/>
              </a:ext>
            </a:extLst>
          </p:cNvPr>
          <p:cNvSpPr/>
          <p:nvPr/>
        </p:nvSpPr>
        <p:spPr>
          <a:xfrm>
            <a:off x="6985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z2996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9DDEB89-2B91-99E8-326F-9340E2422BA8}"/>
              </a:ext>
            </a:extLst>
          </p:cNvPr>
          <p:cNvSpPr/>
          <p:nvPr/>
        </p:nvSpPr>
        <p:spPr>
          <a:xfrm>
            <a:off x="6985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E7F06C1-1BBE-7FD5-6B4A-8791B390F004}"/>
              </a:ext>
            </a:extLst>
          </p:cNvPr>
          <p:cNvSpPr/>
          <p:nvPr/>
        </p:nvSpPr>
        <p:spPr>
          <a:xfrm>
            <a:off x="2667000" y="4953000"/>
            <a:ext cx="4191000" cy="685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EEF8FC"/>
                </a:solidFill>
                <a:latin typeface="Microsoft YaHei" panose="020B0503020204020204" pitchFamily="34" charset="-122"/>
              </a:rPr>
              <a:t>grade-summaries</a:t>
            </a:r>
          </a:p>
          <a:p>
            <a:pPr algn="ctr"/>
            <a:r>
              <a:rPr lang="en-US" altLang="zh-CN" sz="1300" b="1">
                <a:solidFill>
                  <a:srgbClr val="EEF8FC"/>
                </a:solidFill>
                <a:latin typeface="Microsoft YaHei" panose="020B0503020204020204" pitchFamily="34" charset="-122"/>
              </a:rPr>
              <a:t>3 clean PASS / 0 needs attention</a:t>
            </a:r>
            <a:endParaRPr lang="zh-CN" altLang="en-US" sz="13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4C3A04-39AF-9B6C-BB13-C2265B3D0B48}"/>
              </a:ext>
            </a:extLst>
          </p:cNvPr>
          <p:cNvSpPr/>
          <p:nvPr/>
        </p:nvSpPr>
        <p:spPr>
          <a:xfrm>
            <a:off x="7175500" y="4953000"/>
            <a:ext cx="1968500" cy="6858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工程复现 </a:t>
            </a:r>
            <a:r>
              <a:rPr lang="en-US" altLang="zh-CN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commit</a:t>
            </a:r>
            <a:r>
              <a:rPr lang="zh-CN" altLang="en-US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db85947</a:t>
            </a:r>
            <a:endParaRPr lang="zh-CN" altLang="en-US" sz="11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68148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900E464-1E47-3773-AEA1-CE6EF84D3B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4CE156B-222E-80B5-A6F0-B3FF9553D95A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EAAD23-DB28-61B7-255F-19738985EACD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3D3D0A-C414-6BC7-2CEE-36F2A9DE0FE1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证据链可以重新计算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03C5457-466D-AB3F-D0A2-555D70C1B513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13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1159B1B-E527-4992-0ED8-07B5EC87478B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视频和截图不进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Git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，但外部文件名、大小、时长、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和网盘位置都可以复核。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D45BDB7-6C8F-4597-679F-54E6AF68619A}"/>
              </a:ext>
            </a:extLst>
          </p:cNvPr>
          <p:cNvSpPr/>
          <p:nvPr/>
        </p:nvSpPr>
        <p:spPr>
          <a:xfrm>
            <a:off x="2108200" y="2082800"/>
            <a:ext cx="17780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最终视频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9E9C293-F50F-689B-F65E-0F78FB505CFE}"/>
              </a:ext>
            </a:extLst>
          </p:cNvPr>
          <p:cNvSpPr/>
          <p:nvPr/>
        </p:nvSpPr>
        <p:spPr>
          <a:xfrm>
            <a:off x="4216400" y="1905000"/>
            <a:ext cx="5842000" cy="990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文件：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20260611_final_integrated_0001_0009_demo.mp4</a:t>
            </a:r>
          </a:p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时长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规格：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00:03:12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2560×1440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60 fps</a:t>
            </a:r>
          </a:p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大小：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31,529,984 bytes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5016F74-C9C3-3393-F6A0-77EC49186E3A}"/>
              </a:ext>
            </a:extLst>
          </p:cNvPr>
          <p:cNvSpPr/>
          <p:nvPr/>
        </p:nvSpPr>
        <p:spPr>
          <a:xfrm>
            <a:off x="2108200" y="3327400"/>
            <a:ext cx="1778000" cy="533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SHA256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45365C6-83D8-E8B6-287B-E6794BDD2CEC}"/>
              </a:ext>
            </a:extLst>
          </p:cNvPr>
          <p:cNvSpPr/>
          <p:nvPr/>
        </p:nvSpPr>
        <p:spPr>
          <a:xfrm>
            <a:off x="4216400" y="3276600"/>
            <a:ext cx="5842000" cy="635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SHA256</a:t>
            </a:r>
            <a:r>
              <a:rPr lang="zh-CN" altLang="en-US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2A2C9863C185846225A98AC874499867A71588CED2020A64249CBF99C7BC0365</a:t>
            </a:r>
            <a:endParaRPr lang="zh-CN" altLang="en-US" sz="72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A685125-F65E-4D88-2CD1-B2F2266322B9}"/>
              </a:ext>
            </a:extLst>
          </p:cNvPr>
          <p:cNvSpPr/>
          <p:nvPr/>
        </p:nvSpPr>
        <p:spPr>
          <a:xfrm>
            <a:off x="2108200" y="4445000"/>
            <a:ext cx="17780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网盘资产包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51B59A5-8ADF-10B3-8910-76BE66A5C2CD}"/>
              </a:ext>
            </a:extLst>
          </p:cNvPr>
          <p:cNvSpPr/>
          <p:nvPr/>
        </p:nvSpPr>
        <p:spPr>
          <a:xfrm>
            <a:off x="4216400" y="4343400"/>
            <a:ext cx="3810000" cy="838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网盘：</a:t>
            </a:r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proj54_submission_assets</a:t>
            </a:r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，提取码 </a:t>
            </a:r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1234</a:t>
            </a:r>
          </a:p>
          <a:p>
            <a:pPr algn="ctr"/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14/14 matched</a:t>
            </a:r>
            <a:endParaRPr lang="zh-CN" altLang="en-US" sz="12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56DAAF8-AEF1-DE3D-C84D-CDB34202FA5B}"/>
              </a:ext>
            </a:extLst>
          </p:cNvPr>
          <p:cNvSpPr/>
          <p:nvPr/>
        </p:nvSpPr>
        <p:spPr>
          <a:xfrm>
            <a:off x="8318500" y="4343400"/>
            <a:ext cx="1727200" cy="838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Git </a:t>
            </a:r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只保存摘要</a:t>
            </a:r>
          </a:p>
        </p:txBody>
      </p:sp>
    </p:spTree>
    <p:extLst>
      <p:ext uri="{BB962C8B-B14F-4D97-AF65-F5344CB8AC3E}">
        <p14:creationId xmlns:p14="http://schemas.microsoft.com/office/powerpoint/2010/main" val="3059291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D19BA31-6EE6-0BC7-86D3-074AD54A88F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72C5414-014E-035D-692F-3D35DA6ABAAA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462EFC-AA76-8768-A1CF-B94E30FE4F9E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F370486-911F-6B0B-63F0-3658B8AE9D59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uCore/rCore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的差异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063CA3-8905-9C65-6F99-2F6FB2EB6732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14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49AA37-A0F5-7FD5-E2EC-A6FB386BCB51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本项目不是替代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uCore/rCore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，而是面向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OUC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课程的轻量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入门实验包。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D01DC89-6D4F-C675-68E5-9A7BE8B671A6}"/>
              </a:ext>
            </a:extLst>
          </p:cNvPr>
          <p:cNvSpPr/>
          <p:nvPr/>
        </p:nvSpPr>
        <p:spPr>
          <a:xfrm>
            <a:off x="2413000" y="2095500"/>
            <a:ext cx="2286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完整课程生态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233330D-E3EE-6212-085B-E77345A4C104}"/>
              </a:ext>
            </a:extLst>
          </p:cNvPr>
          <p:cNvSpPr/>
          <p:nvPr/>
        </p:nvSpPr>
        <p:spPr>
          <a:xfrm>
            <a:off x="5016500" y="2095500"/>
            <a:ext cx="4572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本项目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82FA602-FA84-0FA1-9456-CCA299338C7C}"/>
              </a:ext>
            </a:extLst>
          </p:cNvPr>
          <p:cNvSpPr/>
          <p:nvPr/>
        </p:nvSpPr>
        <p:spPr>
          <a:xfrm>
            <a:off x="2413000" y="3086100"/>
            <a:ext cx="2286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覆盖更广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1F58EB8-8822-B5FB-5F9E-C63189F32F40}"/>
              </a:ext>
            </a:extLst>
          </p:cNvPr>
          <p:cNvSpPr/>
          <p:nvPr/>
        </p:nvSpPr>
        <p:spPr>
          <a:xfrm>
            <a:off x="5016500" y="3086100"/>
            <a:ext cx="4572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更轻量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5866D31-F3FE-BE37-2382-29DB597FA05C}"/>
              </a:ext>
            </a:extLst>
          </p:cNvPr>
          <p:cNvSpPr/>
          <p:nvPr/>
        </p:nvSpPr>
        <p:spPr>
          <a:xfrm>
            <a:off x="2413000" y="4076700"/>
            <a:ext cx="2286000" cy="635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学习周期更长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D31B65F-50D2-D690-221C-E79976454F01}"/>
              </a:ext>
            </a:extLst>
          </p:cNvPr>
          <p:cNvSpPr/>
          <p:nvPr/>
        </p:nvSpPr>
        <p:spPr>
          <a:xfrm>
            <a:off x="5016500" y="4076700"/>
            <a:ext cx="4572000" cy="635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可复现验收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FFBE2D4-A2BD-0F7C-6E04-3EE463098C81}"/>
              </a:ext>
            </a:extLst>
          </p:cNvPr>
          <p:cNvSpPr/>
          <p:nvPr/>
        </p:nvSpPr>
        <p:spPr>
          <a:xfrm>
            <a:off x="3302000" y="5461000"/>
            <a:ext cx="54610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重点是小步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patch workflow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clean baseline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复现、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教学路径、三方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full verify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和证据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manifest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9091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0102F28-9E6D-49A5-139B-FAA62D8D97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8A8322-CC84-ED95-2132-F60A6C935EE7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80BE55-E5C4-C068-8923-A7711CD820CC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763BC96-B916-27F5-276C-6E5FE5BC9AA2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创新在组织方式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5E56C4A-103E-156A-0FA3-4EA80E7FB2D7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15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4F213-1089-1FCD-723D-4F1679313DED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创新不只在系统调用，而在实验组织、工具入口、复现证据和诚信边界同时可执行。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23C39AE-4597-94CE-4C95-FB1B2B23CB1C}"/>
              </a:ext>
            </a:extLst>
          </p:cNvPr>
          <p:cNvSpPr/>
          <p:nvPr/>
        </p:nvSpPr>
        <p:spPr>
          <a:xfrm>
            <a:off x="1193800" y="2667000"/>
            <a:ext cx="2222500" cy="914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基线补丁流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E6C270F-FA5B-9D37-C69C-111BB0723B97}"/>
              </a:ext>
            </a:extLst>
          </p:cNvPr>
          <p:cNvSpPr/>
          <p:nvPr/>
        </p:nvSpPr>
        <p:spPr>
          <a:xfrm>
            <a:off x="4114800" y="2667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copyout </a:t>
            </a:r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进阶实验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62EF70A-D74A-BF50-BA97-1C67B2DFCEE5}"/>
              </a:ext>
            </a:extLst>
          </p:cNvPr>
          <p:cNvSpPr/>
          <p:nvPr/>
        </p:nvSpPr>
        <p:spPr>
          <a:xfrm>
            <a:off x="7035800" y="2667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课程材料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5B21866-89C6-9122-B786-4AFDF13FF194}"/>
              </a:ext>
            </a:extLst>
          </p:cNvPr>
          <p:cNvSpPr/>
          <p:nvPr/>
        </p:nvSpPr>
        <p:spPr>
          <a:xfrm>
            <a:off x="1193800" y="4191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复现工具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8994A1C-C830-E270-C283-0F5E874C6166}"/>
              </a:ext>
            </a:extLst>
          </p:cNvPr>
          <p:cNvSpPr/>
          <p:nvPr/>
        </p:nvSpPr>
        <p:spPr>
          <a:xfrm>
            <a:off x="4114800" y="4191000"/>
            <a:ext cx="2222500" cy="914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验收证据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70E9356-66B9-9D56-6A7B-4D875D1C3A30}"/>
              </a:ext>
            </a:extLst>
          </p:cNvPr>
          <p:cNvSpPr/>
          <p:nvPr/>
        </p:nvSpPr>
        <p:spPr>
          <a:xfrm>
            <a:off x="4572000" y="5461000"/>
            <a:ext cx="3175000" cy="5334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可执行的组织创新</a:t>
            </a:r>
          </a:p>
        </p:txBody>
      </p:sp>
    </p:spTree>
    <p:extLst>
      <p:ext uri="{BB962C8B-B14F-4D97-AF65-F5344CB8AC3E}">
        <p14:creationId xmlns:p14="http://schemas.microsoft.com/office/powerpoint/2010/main" val="26608544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962DA8C-5898-3DFF-A961-076C079428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C62E8F-BF21-AE62-286A-4E50C70F1459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B9F4F6-46AE-089B-8411-83BCDCD153E0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1BB989-5942-167E-2F02-21DB95C6C8E4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边界与总结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689393-40DF-CEEA-E92D-E8CD32E28CAA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16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289F75C-3128-D741-D4F5-D54B0E98AAB0}"/>
              </a:ext>
            </a:extLst>
          </p:cNvPr>
          <p:cNvSpPr txBox="1"/>
          <p:nvPr/>
        </p:nvSpPr>
        <p:spPr>
          <a:xfrm>
            <a:off x="685800" y="1092200"/>
            <a:ext cx="8255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边界说清楚，可信度才站得住：它不是完整内核工程，但是真实、可复现、可教学。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F43F142-6037-7A11-7A85-F1DD1045B1EC}"/>
              </a:ext>
            </a:extLst>
          </p:cNvPr>
          <p:cNvSpPr/>
          <p:nvPr/>
        </p:nvSpPr>
        <p:spPr>
          <a:xfrm>
            <a:off x="1041400" y="2349500"/>
            <a:ext cx="2413000" cy="1041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已完成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已完成：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integrated 0001-0009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课程实验体系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E0567E1-79B8-1F78-6E80-0F22BAABABE8}"/>
              </a:ext>
            </a:extLst>
          </p:cNvPr>
          <p:cNvSpPr/>
          <p:nvPr/>
        </p:nvSpPr>
        <p:spPr>
          <a:xfrm>
            <a:off x="3962400" y="2349500"/>
            <a:ext cx="2413000" cy="1041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已验证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已验证：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rain / root / z2996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14/14 SHA256 matched</a:t>
            </a:r>
            <a:endParaRPr lang="zh-CN" altLang="en-US" sz="10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F78002D-312C-E476-B3F9-470E513BB519}"/>
              </a:ext>
            </a:extLst>
          </p:cNvPr>
          <p:cNvSpPr/>
          <p:nvPr/>
        </p:nvSpPr>
        <p:spPr>
          <a:xfrm>
            <a:off x="6883400" y="2349500"/>
            <a:ext cx="2413000" cy="1041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历史点</a:t>
            </a:r>
          </a:p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历史点：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e8e2fb9 / 0001-0007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只作为历史检查点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7CEC11B-9024-A64B-23F3-EE82E38D50EC}"/>
              </a:ext>
            </a:extLst>
          </p:cNvPr>
          <p:cNvSpPr/>
          <p:nvPr/>
        </p:nvSpPr>
        <p:spPr>
          <a:xfrm>
            <a:off x="1041400" y="4000500"/>
            <a:ext cx="2413000" cy="10414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不夸大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不夸大：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pgcount/memstat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不是完整内存管理，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fcount/fdcount/fdinfo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不是完整文件系统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B705075-ECB6-0583-A51F-77155DC7A6A0}"/>
              </a:ext>
            </a:extLst>
          </p:cNvPr>
          <p:cNvSpPr/>
          <p:nvPr/>
        </p:nvSpPr>
        <p:spPr>
          <a:xfrm>
            <a:off x="3962400" y="4000500"/>
            <a:ext cx="2413000" cy="1041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最后确认</a:t>
            </a:r>
          </a:p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提交前最后确认：平台提交方式最终确认；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PPT 5-8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分钟人工排练；按 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submission_checklist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跑最终全检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45F0FA1-96D3-58ED-6EE7-0D1C3FB74B03}"/>
              </a:ext>
            </a:extLst>
          </p:cNvPr>
          <p:cNvSpPr/>
          <p:nvPr/>
        </p:nvSpPr>
        <p:spPr>
          <a:xfrm>
            <a:off x="3479800" y="5740400"/>
            <a:ext cx="5207000" cy="482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真实 </a:t>
            </a:r>
            <a:r>
              <a:rPr lang="en-US" altLang="zh-CN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 </a:t>
            </a:r>
            <a:r>
              <a:rPr lang="en-US" altLang="zh-CN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可教学</a:t>
            </a:r>
          </a:p>
        </p:txBody>
      </p:sp>
    </p:spTree>
    <p:extLst>
      <p:ext uri="{BB962C8B-B14F-4D97-AF65-F5344CB8AC3E}">
        <p14:creationId xmlns:p14="http://schemas.microsoft.com/office/powerpoint/2010/main" val="195174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1765</Words>
  <Application>Microsoft Office PowerPoint</Application>
  <PresentationFormat>自定义</PresentationFormat>
  <Paragraphs>253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ain</dc:creator>
  <cp:lastModifiedBy>R ain</cp:lastModifiedBy>
  <cp:revision>1</cp:revision>
  <dcterms:created xsi:type="dcterms:W3CDTF">2026-06-12T00:24:28Z</dcterms:created>
  <dcterms:modified xsi:type="dcterms:W3CDTF">2026-06-12T00:24:28Z</dcterms:modified>
</cp:coreProperties>
</file>